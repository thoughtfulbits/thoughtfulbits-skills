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ff8eddbbca46c7" /><Relationship Type="http://schemas.openxmlformats.org/officeDocument/2006/relationships/extended-properties" Target="/docProps/app.xml" Id="R3e10c9dd268f40b8" /><Relationship Type="http://schemas.openxmlformats.org/officeDocument/2006/relationships/officeDocument" Target="/ppt/presentation.xml" Id="R0e1f451ceef34f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7a84c2c177435b"/>
  </p:sldMasterIdLst>
  <p:notesMasterIdLst>
    <p:notesMasterId xmlns:r="http://schemas.openxmlformats.org/officeDocument/2006/relationships" r:id="R8e8028aea6494207"/>
  </p:notesMasterIdLst>
  <p:sldIdLst>
    <p:sldId xmlns:r="http://schemas.openxmlformats.org/officeDocument/2006/relationships" id="256" r:id="Re1de59aa634c4a0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42774398634225" /><Relationship Type="http://schemas.openxmlformats.org/officeDocument/2006/relationships/slideMaster" Target="/ppt/slideMasters/slideMaster1.xml" Id="Rfa7a84c2c177435b" /><Relationship Type="http://schemas.openxmlformats.org/officeDocument/2006/relationships/notesMaster" Target="/ppt/notesMasters/notesMaster1.xml" Id="R8e8028aea6494207" /><Relationship Type="http://schemas.openxmlformats.org/officeDocument/2006/relationships/presProps" Target="/ppt/presProps.xml" Id="R825a0852900d4bd7" /><Relationship Type="http://schemas.openxmlformats.org/officeDocument/2006/relationships/tableStyles" Target="/ppt/tableStyles.xml" Id="R89d1f2a8705f4913" /><Relationship Type="http://schemas.openxmlformats.org/officeDocument/2006/relationships/slide" Target="/ppt/slides/slide1.xml" Id="Re1de59aa634c4a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1deff8cd2f4f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c2f7f658504b83" /><Relationship Type="http://schemas.openxmlformats.org/officeDocument/2006/relationships/notesMaster" Target="/ppt/notesMasters/notesMaster1.xml" Id="Rbe0f09c5da9b40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analysis: 31 of 44 at-risk accounts went live without implementation certification.</a:t>
            </a:r>
          </a:p>
          <a:p xmlns:a="http://schemas.openxmlformats.org/drawingml/2006/main">
            <a:r>
              <a:t>That cohort had 3.4x the cancellation rate of certified accounts; the analysis covers all Q3 at-risk accounts.</a:t>
            </a:r>
          </a:p>
          <a:p xmlns:a="http://schemas.openxmlformats.org/drawingml/2006/main">
            <a:r>
              <a:t>Keep this out of the pre-read and mention it only if the board asks about the churn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c9a0143124e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6319ed3b8e4c22" /><Relationship Type="http://schemas.openxmlformats.org/officeDocument/2006/relationships/slideLayout" Target="/ppt/slideLayouts/slideLayout1.xml" Id="Rd489ad72c86d48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89ad72c86d48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104f1aa594d79" /><Relationship Type="http://schemas.openxmlformats.org/officeDocument/2006/relationships/chart" Target="/ppt/slides/charts/chart1.xml" Id="R8a55167df4dd42bd" /><Relationship Type="http://schemas.openxmlformats.org/officeDocument/2006/relationships/notesSlide" Target="/ppt/notesSlides/notesSlide1.xml" Id="R558f64b95a1d44e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Monthly logo churn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3"/>
              <c:pt idx="0">
                <c:v>July</c:v>
              </c:pt>
              <c:pt idx="1">
                <c:v>August</c:v>
              </c:pt>
              <c:pt idx="2">
                <c:v>September</c:v>
              </c:pt>
            </c:strLit>
          </c:cat>
          <c:val>
            <c:numLit>
              <c:formatCode>0.0</c:formatCode>
              <c:ptCount val="3"/>
              <c:pt idx="0">
                <c:v>1.4</c:v>
              </c:pt>
              <c:pt idx="1">
                <c:v>1.9</c:v>
              </c:pt>
              <c:pt idx="2">
                <c:v>2.8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00000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000000"/>
                    </a:solidFill>
                  </a:rPr>
                  <a:t>Monthly logo churn (%)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line">
            <a:extLst xmlns:a="http://schemas.openxmlformats.org/drawingml/2006/main">
              <a:ext uri="{FF2B5EF4-FFF2-40B4-BE49-F238E27FC236}">
                <a16:creationId xmlns:a16="http://schemas.microsoft.com/office/drawing/2014/main" id="{EC56445D-02F9-4E57-80EF-952CAB05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Monthly logo churn stabilized in Q3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390525" y="1352550"/>
          <a:ext xmlns:a="http://schemas.openxmlformats.org/drawingml/2006/main" cx="55245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55167df4dd42bd"/>
          </a:graphicData>
        </a:graphic>
      </p:graphicFrame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B5CDF76C-3ADE-4091-B498-5C72EEC5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552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onboarding playbook is working; no additional action is required.</a:t>
            </a:r>
          </a:p>
        </p:txBody>
      </p:sp>
      <p:sp>
        <p:nvSpPr>
          <p:cNvPr id="4" name="nrr-card">
            <a:extLst xmlns:a="http://schemas.openxmlformats.org/drawingml/2006/main">
              <a:ext uri="{FF2B5EF4-FFF2-40B4-BE49-F238E27FC236}">
                <a16:creationId xmlns:a16="http://schemas.microsoft.com/office/drawing/2014/main" id="{A173C052-A1CF-419B-B252-BC4E3237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62325"/>
            <a:ext cx="2581275" cy="2657475"/>
          </a:xfrm>
          <a:prstGeom xmlns:a="http://schemas.openxmlformats.org/drawingml/2006/main" prst="roundRect">
            <a:avLst>
              <a:gd name="adj" fmla="val 44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5" name="nrr-card-stat">
            <a:extLst xmlns:a="http://schemas.openxmlformats.org/drawingml/2006/main">
              <a:ext uri="{FF2B5EF4-FFF2-40B4-BE49-F238E27FC236}">
                <a16:creationId xmlns:a16="http://schemas.microsoft.com/office/drawing/2014/main" id="{2ABA2ABD-BA3A-4D60-BAE2-077C5038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57625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106%</a:t>
            </a:r>
          </a:p>
        </p:txBody>
      </p:sp>
      <p:sp>
        <p:nvSpPr>
          <p:cNvPr id="6" name="nrr-card-label">
            <a:extLst xmlns:a="http://schemas.openxmlformats.org/drawingml/2006/main">
              <a:ext uri="{FF2B5EF4-FFF2-40B4-BE49-F238E27FC236}">
                <a16:creationId xmlns:a16="http://schemas.microsoft.com/office/drawing/2014/main" id="{6CFEAE90-A9A2-430B-9C9F-0FC73BC0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53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Net revenue retention</a:t>
            </a:r>
          </a:p>
        </p:txBody>
      </p:sp>
      <p:sp>
        <p:nvSpPr>
          <p:cNvPr id="7" name="risk-card">
            <a:extLst xmlns:a="http://schemas.openxmlformats.org/drawingml/2006/main">
              <a:ext uri="{FF2B5EF4-FFF2-40B4-BE49-F238E27FC236}">
                <a16:creationId xmlns:a16="http://schemas.microsoft.com/office/drawing/2014/main" id="{2CCDA01E-D209-4FD4-8411-0E46744E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62325"/>
            <a:ext cx="2581275" cy="2657475"/>
          </a:xfrm>
          <a:prstGeom xmlns:a="http://schemas.openxmlformats.org/drawingml/2006/main" prst="roundRect">
            <a:avLst>
              <a:gd name="adj" fmla="val 442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risk-card-stat">
            <a:extLst xmlns:a="http://schemas.openxmlformats.org/drawingml/2006/main">
              <a:ext uri="{FF2B5EF4-FFF2-40B4-BE49-F238E27FC236}">
                <a16:creationId xmlns:a16="http://schemas.microsoft.com/office/drawing/2014/main" id="{51BFFBCA-281E-4990-BB14-E9AEC02F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57625"/>
            <a:ext cx="2095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44</a:t>
            </a:r>
          </a:p>
        </p:txBody>
      </p:sp>
      <p:sp>
        <p:nvSpPr>
          <p:cNvPr id="9" name="risk-card-label">
            <a:extLst xmlns:a="http://schemas.openxmlformats.org/drawingml/2006/main">
              <a:ext uri="{FF2B5EF4-FFF2-40B4-BE49-F238E27FC236}">
                <a16:creationId xmlns:a16="http://schemas.microsoft.com/office/drawing/2014/main" id="{DB80A2BF-8AC1-45EA-BC6A-324367AD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53000"/>
            <a:ext cx="209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Accounts flagged at risk</a:t>
            </a:r>
          </a:p>
        </p:txBody>
      </p:sp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BE2E728-5264-43B8-9797-46802DAB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02759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2026-07-16T22:23:40.9400000Z</dcterms:created>
  <dcterms:modified xsi:type="dcterms:W3CDTF">2026-07-16T22:23:40.9400000Z</dcterms:modified>
</coreProperties>
</file>